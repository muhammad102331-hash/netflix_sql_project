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7" d="100"/>
          <a:sy n="67" d="100"/>
        </p:scale>
        <p:origin x="128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3"/>
            <a:ext cx="5917679" cy="2554983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441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76937" y="1828799"/>
            <a:ext cx="990599" cy="228659"/>
          </a:xfrm>
        </p:spPr>
        <p:txBody>
          <a:bodyPr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9A04FF6F-4095-4A97-819C-A796BD444A7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10" y="3264407"/>
            <a:ext cx="3859795" cy="228659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6C6E3381-B2F8-410B-85F5-5F944DE48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846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4FF6F-4095-4A97-819C-A796BD444A7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6C6E3381-B2F8-410B-85F5-5F944DE48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339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 bwMode="gray"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257588"/>
            <a:ext cx="3101765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7"/>
            <a:ext cx="3054653" cy="302034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4FF6F-4095-4A97-819C-A796BD444A7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738039" y="7605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6C6E3381-B2F8-410B-85F5-5F944DE48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35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80" cy="353060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3060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4FF6F-4095-4A97-819C-A796BD444A7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6C6E3381-B2F8-410B-85F5-5F944DE48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73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94298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39" y="3253588"/>
            <a:ext cx="3636981" cy="276621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4FF6F-4095-4A97-819C-A796BD444A7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6C6E3381-B2F8-410B-85F5-5F944DE48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593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4FF6F-4095-4A97-819C-A796BD444A7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6C6E3381-B2F8-410B-85F5-5F944DE48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968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4FF6F-4095-4A97-819C-A796BD444A7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6C6E3381-B2F8-410B-85F5-5F944DE48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03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89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1182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3086845"/>
            <a:ext cx="2712589" cy="2938036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4FF6F-4095-4A97-819C-A796BD444A7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6C6E3381-B2F8-410B-85F5-5F944DE48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204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591" y="1340000"/>
            <a:ext cx="3001938" cy="161619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51591" y="3086100"/>
            <a:ext cx="3001938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4FF6F-4095-4A97-819C-A796BD444A7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6C6E3381-B2F8-410B-85F5-5F944DE48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063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5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4FF6F-4095-4A97-819C-A796BD444A7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6C6E3381-B2F8-410B-85F5-5F944DE48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872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2004" cy="1692720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8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4FF6F-4095-4A97-819C-A796BD444A7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6C6E3381-B2F8-410B-85F5-5F944DE48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8630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2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2" name="TextBox 11"/>
          <p:cNvSpPr txBox="1"/>
          <p:nvPr/>
        </p:nvSpPr>
        <p:spPr bwMode="gray">
          <a:xfrm>
            <a:off x="7033422" y="2898648"/>
            <a:ext cx="6605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”</a:t>
            </a:r>
          </a:p>
        </p:txBody>
      </p:sp>
      <p:sp>
        <p:nvSpPr>
          <p:cNvPr id="11" name="TextBox 10"/>
          <p:cNvSpPr txBox="1"/>
          <p:nvPr/>
        </p:nvSpPr>
        <p:spPr bwMode="gray">
          <a:xfrm>
            <a:off x="651683" y="589767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58" y="903421"/>
            <a:ext cx="6160385" cy="289565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9" y="3809278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5"/>
            <a:ext cx="6422005" cy="1024065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4FF6F-4095-4A97-819C-A796BD444A7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6C6E3381-B2F8-410B-85F5-5F944DE48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19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400"/>
            <a:ext cx="6422004" cy="2095500"/>
          </a:xfrm>
        </p:spPr>
        <p:txBody>
          <a:bodyPr anchor="b"/>
          <a:lstStyle>
            <a:lvl1pPr algn="l">
              <a:defRPr sz="36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4FF6F-4095-4A97-819C-A796BD444A7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6C6E3381-B2F8-410B-85F5-5F944DE48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8701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2305"/>
            <a:ext cx="6423592" cy="71466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2313433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5"/>
            <a:ext cx="2313432" cy="2877714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2" y="2489200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2" y="3147165"/>
            <a:ext cx="2326749" cy="286987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1"/>
            <a:ext cx="231374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1" y="3147164"/>
            <a:ext cx="2313740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4FF6F-4095-4A97-819C-A796BD444A7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6C6E3381-B2F8-410B-85F5-5F944DE48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1074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3592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461" y="4180095"/>
            <a:ext cx="229904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2743" y="2486221"/>
            <a:ext cx="2021456" cy="145032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1"/>
          </p:nvPr>
        </p:nvSpPr>
        <p:spPr>
          <a:xfrm>
            <a:off x="881461" y="4837558"/>
            <a:ext cx="2298410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4318" y="4179596"/>
            <a:ext cx="231779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509453"/>
            <a:ext cx="2025182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8" y="4837558"/>
            <a:ext cx="2330903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1" y="4179595"/>
            <a:ext cx="229949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6" y="2509453"/>
            <a:ext cx="2018839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1" y="4837558"/>
            <a:ext cx="229949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4FF6F-4095-4A97-819C-A796BD444A7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6C6E3381-B2F8-410B-85F5-5F944DE48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7899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4FF6F-4095-4A97-819C-A796BD444A7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6C6E3381-B2F8-410B-85F5-5F944DE48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1179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8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077347" cy="4571999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0" y="1447799"/>
            <a:ext cx="4417234" cy="45720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4FF6F-4095-4A97-819C-A796BD444A7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6C6E3381-B2F8-410B-85F5-5F944DE48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20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25" name="Rectangle 24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8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3202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6343201" cy="353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9638" y="6365499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  <a:latin typeface="+mn-lt"/>
              </a:defRPr>
            </a:lvl1pPr>
          </a:lstStyle>
          <a:p>
            <a:fld id="{9A04FF6F-4095-4A97-819C-A796BD444A7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8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6C6E3381-B2F8-410B-85F5-5F944DE48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546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8FFA6-3AB3-4779-82C5-2E67907471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450" y="1471612"/>
            <a:ext cx="6257925" cy="1481138"/>
          </a:xfrm>
        </p:spPr>
        <p:txBody>
          <a:bodyPr/>
          <a:lstStyle/>
          <a:p>
            <a:r>
              <a:rPr lang="en-US" dirty="0"/>
              <a:t>SYED MUHAMMAD ALI SHAH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2A013E-6A5B-40B9-A726-AC09F21FAD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300" b="1" dirty="0"/>
              <a:t>Netflix Data Analysis Project</a:t>
            </a:r>
            <a:r>
              <a:rPr lang="en-US" sz="33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8075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CD236-502A-4645-969F-5EDD849000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6441" y="874017"/>
            <a:ext cx="5917679" cy="1030983"/>
          </a:xfrm>
        </p:spPr>
        <p:txBody>
          <a:bodyPr/>
          <a:lstStyle/>
          <a:p>
            <a:r>
              <a:rPr lang="en-US" dirty="0"/>
              <a:t>CREATE TABLE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DBFAF9-50B2-40E1-A1EE-B900E7D8B4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6440" y="2181225"/>
            <a:ext cx="5917679" cy="3905250"/>
          </a:xfrm>
        </p:spPr>
        <p:txBody>
          <a:bodyPr>
            <a:normAutofit fontScale="62500" lnSpcReduction="20000"/>
          </a:bodyPr>
          <a:lstStyle/>
          <a:p>
            <a:r>
              <a:rPr lang="en-US" sz="1900" dirty="0">
                <a:solidFill>
                  <a:schemeClr val="bg1"/>
                </a:solidFill>
              </a:rPr>
              <a:t>CREATE TABLE </a:t>
            </a:r>
            <a:r>
              <a:rPr lang="en-US" sz="1900" dirty="0" err="1">
                <a:solidFill>
                  <a:schemeClr val="bg1"/>
                </a:solidFill>
              </a:rPr>
              <a:t>netflix_titles</a:t>
            </a:r>
            <a:r>
              <a:rPr lang="en-US" sz="1900" dirty="0">
                <a:solidFill>
                  <a:schemeClr val="bg1"/>
                </a:solidFill>
              </a:rPr>
              <a:t> (</a:t>
            </a:r>
          </a:p>
          <a:p>
            <a:r>
              <a:rPr lang="en-US" sz="1900" dirty="0">
                <a:solidFill>
                  <a:schemeClr val="bg1"/>
                </a:solidFill>
              </a:rPr>
              <a:t>    </a:t>
            </a:r>
            <a:r>
              <a:rPr lang="en-US" sz="1900" dirty="0" err="1">
                <a:solidFill>
                  <a:schemeClr val="bg1"/>
                </a:solidFill>
              </a:rPr>
              <a:t>show_id</a:t>
            </a:r>
            <a:r>
              <a:rPr lang="en-US" sz="1900" dirty="0">
                <a:solidFill>
                  <a:schemeClr val="bg1"/>
                </a:solidFill>
              </a:rPr>
              <a:t> VARCHAR(20) PRIMARY KEY,</a:t>
            </a:r>
          </a:p>
          <a:p>
            <a:r>
              <a:rPr lang="en-US" sz="1900" dirty="0">
                <a:solidFill>
                  <a:schemeClr val="bg1"/>
                </a:solidFill>
              </a:rPr>
              <a:t>    type VARCHAR(20),</a:t>
            </a:r>
          </a:p>
          <a:p>
            <a:r>
              <a:rPr lang="en-US" sz="1900" dirty="0">
                <a:solidFill>
                  <a:schemeClr val="bg1"/>
                </a:solidFill>
              </a:rPr>
              <a:t>    title TEXT,</a:t>
            </a:r>
          </a:p>
          <a:p>
            <a:r>
              <a:rPr lang="en-US" sz="1900" dirty="0">
                <a:solidFill>
                  <a:schemeClr val="bg1"/>
                </a:solidFill>
              </a:rPr>
              <a:t>    director TEXT,</a:t>
            </a:r>
          </a:p>
          <a:p>
            <a:r>
              <a:rPr lang="en-US" sz="1900" dirty="0">
                <a:solidFill>
                  <a:schemeClr val="bg1"/>
                </a:solidFill>
              </a:rPr>
              <a:t>    actors TEXT,</a:t>
            </a:r>
          </a:p>
          <a:p>
            <a:r>
              <a:rPr lang="en-US" sz="1900" dirty="0">
                <a:solidFill>
                  <a:schemeClr val="bg1"/>
                </a:solidFill>
              </a:rPr>
              <a:t>    country TEXT,</a:t>
            </a:r>
          </a:p>
          <a:p>
            <a:r>
              <a:rPr lang="en-US" sz="1900" dirty="0">
                <a:solidFill>
                  <a:schemeClr val="bg1"/>
                </a:solidFill>
              </a:rPr>
              <a:t>    </a:t>
            </a:r>
            <a:r>
              <a:rPr lang="en-US" sz="1900" dirty="0" err="1">
                <a:solidFill>
                  <a:schemeClr val="bg1"/>
                </a:solidFill>
              </a:rPr>
              <a:t>date_added</a:t>
            </a:r>
            <a:r>
              <a:rPr lang="en-US" sz="1900" dirty="0">
                <a:solidFill>
                  <a:schemeClr val="bg1"/>
                </a:solidFill>
              </a:rPr>
              <a:t> DATE,</a:t>
            </a:r>
          </a:p>
          <a:p>
            <a:r>
              <a:rPr lang="en-US" sz="1900" dirty="0">
                <a:solidFill>
                  <a:schemeClr val="bg1"/>
                </a:solidFill>
              </a:rPr>
              <a:t>    </a:t>
            </a:r>
            <a:r>
              <a:rPr lang="en-US" sz="1900" dirty="0" err="1">
                <a:solidFill>
                  <a:schemeClr val="bg1"/>
                </a:solidFill>
              </a:rPr>
              <a:t>release_year</a:t>
            </a:r>
            <a:r>
              <a:rPr lang="en-US" sz="1900" dirty="0">
                <a:solidFill>
                  <a:schemeClr val="bg1"/>
                </a:solidFill>
              </a:rPr>
              <a:t> INT,</a:t>
            </a:r>
          </a:p>
          <a:p>
            <a:r>
              <a:rPr lang="en-US" sz="1900" dirty="0">
                <a:solidFill>
                  <a:schemeClr val="bg1"/>
                </a:solidFill>
              </a:rPr>
              <a:t>    rating VARCHAR(20),</a:t>
            </a:r>
          </a:p>
          <a:p>
            <a:r>
              <a:rPr lang="en-US" sz="1900" dirty="0">
                <a:solidFill>
                  <a:schemeClr val="bg1"/>
                </a:solidFill>
              </a:rPr>
              <a:t>    duration VARCHAR(20),</a:t>
            </a:r>
          </a:p>
          <a:p>
            <a:r>
              <a:rPr lang="en-US" sz="1900" dirty="0">
                <a:solidFill>
                  <a:schemeClr val="bg1"/>
                </a:solidFill>
              </a:rPr>
              <a:t>    </a:t>
            </a:r>
            <a:r>
              <a:rPr lang="en-US" sz="1900" dirty="0" err="1">
                <a:solidFill>
                  <a:schemeClr val="bg1"/>
                </a:solidFill>
              </a:rPr>
              <a:t>listed_in</a:t>
            </a:r>
            <a:r>
              <a:rPr lang="en-US" sz="1900" dirty="0">
                <a:solidFill>
                  <a:schemeClr val="bg1"/>
                </a:solidFill>
              </a:rPr>
              <a:t> TEXT,</a:t>
            </a:r>
          </a:p>
          <a:p>
            <a:r>
              <a:rPr lang="en-US" sz="1900" dirty="0">
                <a:solidFill>
                  <a:schemeClr val="bg1"/>
                </a:solidFill>
              </a:rPr>
              <a:t>    description TEXT</a:t>
            </a:r>
          </a:p>
          <a:p>
            <a:r>
              <a:rPr lang="en-US" sz="1900" dirty="0">
                <a:solidFill>
                  <a:schemeClr val="bg1"/>
                </a:solidFill>
              </a:rPr>
              <a:t>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686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9D7E0-E138-469A-97C9-6DB623657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6443" y="1133475"/>
            <a:ext cx="5591508" cy="5105400"/>
          </a:xfrm>
        </p:spPr>
        <p:txBody>
          <a:bodyPr/>
          <a:lstStyle/>
          <a:p>
            <a:r>
              <a:rPr lang="en-US" sz="1600" b="1" dirty="0">
                <a:latin typeface="Arial Black" panose="020B0A04020102020204" pitchFamily="34" charset="0"/>
              </a:rPr>
              <a:t>\copy </a:t>
            </a:r>
            <a:r>
              <a:rPr lang="en-US" sz="1600" b="1" dirty="0" err="1">
                <a:latin typeface="Arial Black" panose="020B0A04020102020204" pitchFamily="34" charset="0"/>
              </a:rPr>
              <a:t>public.netflix_titles</a:t>
            </a:r>
            <a:r>
              <a:rPr lang="en-US" sz="1600" b="1" dirty="0">
                <a:latin typeface="Arial Black" panose="020B0A04020102020204" pitchFamily="34" charset="0"/>
              </a:rPr>
              <a:t>(</a:t>
            </a:r>
            <a:r>
              <a:rPr lang="en-US" sz="1600" b="1" dirty="0" err="1">
                <a:latin typeface="Arial Black" panose="020B0A04020102020204" pitchFamily="34" charset="0"/>
              </a:rPr>
              <a:t>show_id</a:t>
            </a:r>
            <a:r>
              <a:rPr lang="en-US" sz="1600" b="1" dirty="0">
                <a:latin typeface="Arial Black" panose="020B0A04020102020204" pitchFamily="34" charset="0"/>
              </a:rPr>
              <a:t>, type, title, director, "cast", country, </a:t>
            </a:r>
            <a:r>
              <a:rPr lang="en-US" sz="1600" b="1" dirty="0" err="1">
                <a:latin typeface="Arial Black" panose="020B0A04020102020204" pitchFamily="34" charset="0"/>
              </a:rPr>
              <a:t>date_added</a:t>
            </a:r>
            <a:r>
              <a:rPr lang="en-US" sz="1600" b="1" dirty="0">
                <a:latin typeface="Arial Black" panose="020B0A04020102020204" pitchFamily="34" charset="0"/>
              </a:rPr>
              <a:t>, </a:t>
            </a:r>
            <a:r>
              <a:rPr lang="en-US" sz="1600" b="1" dirty="0" err="1">
                <a:latin typeface="Arial Black" panose="020B0A04020102020204" pitchFamily="34" charset="0"/>
              </a:rPr>
              <a:t>release_year</a:t>
            </a:r>
            <a:r>
              <a:rPr lang="en-US" sz="1600" b="1" dirty="0">
                <a:latin typeface="Arial Black" panose="020B0A04020102020204" pitchFamily="34" charset="0"/>
              </a:rPr>
              <a:t>, rating, duration, </a:t>
            </a:r>
            <a:r>
              <a:rPr lang="en-US" sz="1600" b="1" dirty="0" err="1">
                <a:latin typeface="Arial Black" panose="020B0A04020102020204" pitchFamily="34" charset="0"/>
              </a:rPr>
              <a:t>listed_in</a:t>
            </a:r>
            <a:r>
              <a:rPr lang="en-US" sz="1600" b="1" dirty="0">
                <a:latin typeface="Arial Black" panose="020B0A04020102020204" pitchFamily="34" charset="0"/>
              </a:rPr>
              <a:t>, description)</a:t>
            </a:r>
            <a:br>
              <a:rPr lang="en-US" sz="1600" b="1" dirty="0">
                <a:latin typeface="Arial Black" panose="020B0A04020102020204" pitchFamily="34" charset="0"/>
              </a:rPr>
            </a:br>
            <a:r>
              <a:rPr lang="en-US" sz="1600" b="1" dirty="0">
                <a:latin typeface="Arial Black" panose="020B0A04020102020204" pitchFamily="34" charset="0"/>
              </a:rPr>
              <a:t>FROM 'E:/Music/netflix_titles_cleaned.csv'</a:t>
            </a:r>
            <a:br>
              <a:rPr lang="en-US" sz="1600" b="1" dirty="0">
                <a:latin typeface="Arial Black" panose="020B0A04020102020204" pitchFamily="34" charset="0"/>
              </a:rPr>
            </a:br>
            <a:r>
              <a:rPr lang="en-US" sz="1600" b="1" dirty="0">
                <a:latin typeface="Arial Black" panose="020B0A04020102020204" pitchFamily="34" charset="0"/>
              </a:rPr>
              <a:t>WITH (</a:t>
            </a:r>
            <a:br>
              <a:rPr lang="en-US" sz="1600" b="1" dirty="0">
                <a:latin typeface="Arial Black" panose="020B0A04020102020204" pitchFamily="34" charset="0"/>
              </a:rPr>
            </a:br>
            <a:r>
              <a:rPr lang="en-US" sz="1600" b="1" dirty="0">
                <a:latin typeface="Arial Black" panose="020B0A04020102020204" pitchFamily="34" charset="0"/>
              </a:rPr>
              <a:t>    FORMAT csv,</a:t>
            </a:r>
            <a:br>
              <a:rPr lang="en-US" sz="1600" b="1" dirty="0">
                <a:latin typeface="Arial Black" panose="020B0A04020102020204" pitchFamily="34" charset="0"/>
              </a:rPr>
            </a:br>
            <a:r>
              <a:rPr lang="en-US" sz="1600" b="1" dirty="0">
                <a:latin typeface="Arial Black" panose="020B0A04020102020204" pitchFamily="34" charset="0"/>
              </a:rPr>
              <a:t>    HEADER,</a:t>
            </a:r>
            <a:br>
              <a:rPr lang="en-US" sz="1600" b="1" dirty="0">
                <a:latin typeface="Arial Black" panose="020B0A04020102020204" pitchFamily="34" charset="0"/>
              </a:rPr>
            </a:br>
            <a:r>
              <a:rPr lang="en-US" sz="1600" b="1" dirty="0">
                <a:latin typeface="Arial Black" panose="020B0A04020102020204" pitchFamily="34" charset="0"/>
              </a:rPr>
              <a:t>    DELIMITER ',’,</a:t>
            </a:r>
            <a:br>
              <a:rPr lang="en-US" sz="1600" b="1" dirty="0">
                <a:latin typeface="Arial Black" panose="020B0A04020102020204" pitchFamily="34" charset="0"/>
              </a:rPr>
            </a:br>
            <a:r>
              <a:rPr lang="en-US" sz="1600" b="1" dirty="0">
                <a:latin typeface="Arial Black" panose="020B0A04020102020204" pitchFamily="34" charset="0"/>
              </a:rPr>
              <a:t>QUOTE '"',</a:t>
            </a:r>
            <a:br>
              <a:rPr lang="en-US" sz="1600" b="1" dirty="0">
                <a:latin typeface="Arial Black" panose="020B0A04020102020204" pitchFamily="34" charset="0"/>
              </a:rPr>
            </a:br>
            <a:r>
              <a:rPr lang="en-US" sz="1600" b="1" dirty="0">
                <a:latin typeface="Arial Black" panose="020B0A04020102020204" pitchFamily="34" charset="0"/>
              </a:rPr>
              <a:t>    ESCAPE '"',</a:t>
            </a:r>
            <a:br>
              <a:rPr lang="en-US" sz="1600" b="1" dirty="0">
                <a:latin typeface="Arial Black" panose="020B0A04020102020204" pitchFamily="34" charset="0"/>
              </a:rPr>
            </a:br>
            <a:r>
              <a:rPr lang="en-US" sz="1600" b="1" dirty="0">
                <a:latin typeface="Arial Black" panose="020B0A04020102020204" pitchFamily="34" charset="0"/>
              </a:rPr>
              <a:t>    ENCODING 'UTF8'</a:t>
            </a:r>
            <a:br>
              <a:rPr lang="en-US" sz="1600" b="1" dirty="0">
                <a:latin typeface="Arial Black" panose="020B0A04020102020204" pitchFamily="34" charset="0"/>
              </a:rPr>
            </a:br>
            <a:r>
              <a:rPr lang="en-US" sz="1600" b="1" dirty="0">
                <a:latin typeface="Arial Black" panose="020B0A04020102020204" pitchFamily="34" charset="0"/>
              </a:rPr>
              <a:t>);</a:t>
            </a:r>
            <a:br>
              <a:rPr lang="en-US" sz="1600" b="1" dirty="0">
                <a:latin typeface="Arial Black" panose="020B0A04020102020204" pitchFamily="34" charset="0"/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C9B2C0-C3C1-419B-A7C8-ADCDCFF0B8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3617" y="714375"/>
            <a:ext cx="4953334" cy="695326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Importing the  CSV File</a:t>
            </a:r>
          </a:p>
        </p:txBody>
      </p:sp>
    </p:spTree>
    <p:extLst>
      <p:ext uri="{BB962C8B-B14F-4D97-AF65-F5344CB8AC3E}">
        <p14:creationId xmlns:p14="http://schemas.microsoft.com/office/powerpoint/2010/main" val="3695362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7C94E-2676-4232-8860-3462BCC25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666" y="812924"/>
            <a:ext cx="5917679" cy="1501651"/>
          </a:xfrm>
        </p:spPr>
        <p:txBody>
          <a:bodyPr/>
          <a:lstStyle/>
          <a:p>
            <a:r>
              <a:rPr lang="en-US" dirty="0"/>
              <a:t>1️⃣ Total Number of Titles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AC2443-34E6-4639-939B-4FE41E0E0C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666" y="2786654"/>
            <a:ext cx="5917679" cy="1501651"/>
          </a:xfrm>
        </p:spPr>
        <p:txBody>
          <a:bodyPr/>
          <a:lstStyle/>
          <a:p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SELECT COUNT(*) AS </a:t>
            </a:r>
            <a:r>
              <a:rPr lang="en-US" sz="24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total_titles</a:t>
            </a:r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 FROM </a:t>
            </a:r>
            <a:r>
              <a:rPr lang="en-US" sz="24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netflix_titles</a:t>
            </a:r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707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54C76-9D45-49DB-BF88-70ED7EEE5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6440" y="1123950"/>
            <a:ext cx="5917679" cy="1762125"/>
          </a:xfrm>
        </p:spPr>
        <p:txBody>
          <a:bodyPr/>
          <a:lstStyle/>
          <a:p>
            <a:r>
              <a:rPr lang="en-US" dirty="0"/>
              <a:t>2️⃣ Movies vs TV Shows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597930-19D8-4632-89E4-B4C6218A29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1191" y="3215279"/>
            <a:ext cx="5917679" cy="1280521"/>
          </a:xfrm>
        </p:spPr>
        <p:txBody>
          <a:bodyPr>
            <a:normAutofit fontScale="85000" lnSpcReduction="10000"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Arial Black" panose="020B0A04020102020204" pitchFamily="34" charset="0"/>
              </a:rPr>
              <a:t>SELECT type, COUNT(*) AS total</a:t>
            </a:r>
          </a:p>
          <a:p>
            <a:r>
              <a:rPr lang="en-US" sz="2600" b="1" dirty="0">
                <a:solidFill>
                  <a:schemeClr val="bg1"/>
                </a:solidFill>
                <a:latin typeface="Arial Black" panose="020B0A04020102020204" pitchFamily="34" charset="0"/>
              </a:rPr>
              <a:t>FROM </a:t>
            </a:r>
            <a:r>
              <a:rPr lang="en-US" sz="26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netflix_titles</a:t>
            </a:r>
            <a:endParaRPr lang="en-US" sz="26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sz="2600" b="1" dirty="0">
                <a:solidFill>
                  <a:schemeClr val="bg1"/>
                </a:solidFill>
                <a:latin typeface="Arial Black" panose="020B0A04020102020204" pitchFamily="34" charset="0"/>
              </a:rPr>
              <a:t>GROUP BY type;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737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4953E-D420-415A-80DA-3E326C5DD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0241" y="1076325"/>
            <a:ext cx="5917679" cy="1548631"/>
          </a:xfrm>
        </p:spPr>
        <p:txBody>
          <a:bodyPr/>
          <a:lstStyle/>
          <a:p>
            <a:r>
              <a:rPr lang="en-US" sz="3600" dirty="0"/>
              <a:t>3️⃣ Top 10 Countries with the Most Netflix Content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265025-C9E7-4483-88B4-317AFBD70F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700" y="3067049"/>
            <a:ext cx="6060219" cy="1905001"/>
          </a:xfrm>
        </p:spPr>
        <p:txBody>
          <a:bodyPr>
            <a:normAutofit fontScale="32500" lnSpcReduction="20000"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SELECT country, COUNT(*) AS total</a:t>
            </a:r>
          </a:p>
          <a:p>
            <a:r>
              <a:rPr lang="en-US" sz="4800" b="1" dirty="0">
                <a:solidFill>
                  <a:schemeClr val="bg1"/>
                </a:solidFill>
              </a:rPr>
              <a:t>FROM </a:t>
            </a:r>
            <a:r>
              <a:rPr lang="en-US" sz="4800" b="1" dirty="0" err="1">
                <a:solidFill>
                  <a:schemeClr val="bg1"/>
                </a:solidFill>
              </a:rPr>
              <a:t>netflix_titles</a:t>
            </a:r>
            <a:endParaRPr lang="en-US" sz="4800" b="1" dirty="0">
              <a:solidFill>
                <a:schemeClr val="bg1"/>
              </a:solidFill>
            </a:endParaRPr>
          </a:p>
          <a:p>
            <a:r>
              <a:rPr lang="en-US" sz="4800" b="1" dirty="0">
                <a:solidFill>
                  <a:schemeClr val="bg1"/>
                </a:solidFill>
              </a:rPr>
              <a:t>WHERE country IS NOT NULL AND country &lt;&gt; ''</a:t>
            </a:r>
          </a:p>
          <a:p>
            <a:r>
              <a:rPr lang="en-US" sz="4800" b="1" dirty="0">
                <a:solidFill>
                  <a:schemeClr val="bg1"/>
                </a:solidFill>
              </a:rPr>
              <a:t>GROUP BY country</a:t>
            </a:r>
          </a:p>
          <a:p>
            <a:r>
              <a:rPr lang="en-US" sz="4800" b="1" dirty="0">
                <a:solidFill>
                  <a:schemeClr val="bg1"/>
                </a:solidFill>
              </a:rPr>
              <a:t>ORDER BY total DESC</a:t>
            </a:r>
          </a:p>
          <a:p>
            <a:r>
              <a:rPr lang="en-US" sz="4800" b="1" dirty="0">
                <a:solidFill>
                  <a:schemeClr val="bg1"/>
                </a:solidFill>
              </a:rPr>
              <a:t>LIMIT 10;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62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6A316-4786-4D0A-9B56-3050A34B1B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6440" y="1043580"/>
            <a:ext cx="5917679" cy="1358131"/>
          </a:xfrm>
        </p:spPr>
        <p:txBody>
          <a:bodyPr/>
          <a:lstStyle/>
          <a:p>
            <a:r>
              <a:rPr lang="en-US" sz="3200" b="1" dirty="0">
                <a:latin typeface="Arial Black" panose="020B0A04020102020204" pitchFamily="34" charset="0"/>
              </a:rPr>
              <a:t>4️⃣ Number of Titles by Release Year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12FE2B-E67B-4FDE-8A5A-AC478B285C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6440" y="2895601"/>
            <a:ext cx="5917679" cy="1460820"/>
          </a:xfrm>
        </p:spPr>
        <p:txBody>
          <a:bodyPr>
            <a:normAutofit fontScale="40000" lnSpcReduction="20000"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SELECT </a:t>
            </a:r>
            <a:r>
              <a:rPr lang="en-US" sz="4800" b="1" dirty="0" err="1">
                <a:solidFill>
                  <a:schemeClr val="bg1"/>
                </a:solidFill>
              </a:rPr>
              <a:t>release_year</a:t>
            </a:r>
            <a:r>
              <a:rPr lang="en-US" sz="4800" b="1" dirty="0">
                <a:solidFill>
                  <a:schemeClr val="bg1"/>
                </a:solidFill>
              </a:rPr>
              <a:t>, COUNT(*) AS total</a:t>
            </a:r>
          </a:p>
          <a:p>
            <a:r>
              <a:rPr lang="en-US" sz="4800" b="1" dirty="0">
                <a:solidFill>
                  <a:schemeClr val="bg1"/>
                </a:solidFill>
              </a:rPr>
              <a:t>FROM </a:t>
            </a:r>
            <a:r>
              <a:rPr lang="en-US" sz="4800" b="1" dirty="0" err="1">
                <a:solidFill>
                  <a:schemeClr val="bg1"/>
                </a:solidFill>
              </a:rPr>
              <a:t>netflix_titles</a:t>
            </a:r>
            <a:endParaRPr lang="en-US" sz="4800" b="1" dirty="0">
              <a:solidFill>
                <a:schemeClr val="bg1"/>
              </a:solidFill>
            </a:endParaRPr>
          </a:p>
          <a:p>
            <a:r>
              <a:rPr lang="en-US" sz="4800" b="1" dirty="0">
                <a:solidFill>
                  <a:schemeClr val="bg1"/>
                </a:solidFill>
              </a:rPr>
              <a:t>GROUP BY </a:t>
            </a:r>
            <a:r>
              <a:rPr lang="en-US" sz="4800" b="1" dirty="0" err="1">
                <a:solidFill>
                  <a:schemeClr val="bg1"/>
                </a:solidFill>
              </a:rPr>
              <a:t>release_year</a:t>
            </a:r>
            <a:endParaRPr lang="en-US" sz="4800" b="1" dirty="0">
              <a:solidFill>
                <a:schemeClr val="bg1"/>
              </a:solidFill>
            </a:endParaRPr>
          </a:p>
          <a:p>
            <a:r>
              <a:rPr lang="en-US" sz="4800" b="1" dirty="0">
                <a:solidFill>
                  <a:schemeClr val="bg1"/>
                </a:solidFill>
              </a:rPr>
              <a:t>ORDER BY </a:t>
            </a:r>
            <a:r>
              <a:rPr lang="en-US" sz="4800" b="1" dirty="0" err="1">
                <a:solidFill>
                  <a:schemeClr val="bg1"/>
                </a:solidFill>
              </a:rPr>
              <a:t>release_year</a:t>
            </a:r>
            <a:r>
              <a:rPr lang="en-US" sz="4800" b="1" dirty="0">
                <a:solidFill>
                  <a:schemeClr val="bg1"/>
                </a:solidFill>
              </a:rPr>
              <a:t> DESC;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632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F9D69-99B5-4CA1-83C7-E38B8FE17A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516" y="1752600"/>
            <a:ext cx="5401009" cy="1520056"/>
          </a:xfrm>
        </p:spPr>
        <p:txBody>
          <a:bodyPr/>
          <a:lstStyle/>
          <a:p>
            <a:r>
              <a:rPr lang="en-US" sz="3600" b="1" dirty="0">
                <a:latin typeface="Arial Black" panose="020B0A04020102020204" pitchFamily="34" charset="0"/>
              </a:rPr>
              <a:t>5️⃣ 🔥 Top 10 Most Frequent Actors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0A2740-F267-4502-86D3-AFCD0CA8AC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9711" y="3720331"/>
            <a:ext cx="5917679" cy="1756544"/>
          </a:xfrm>
        </p:spPr>
        <p:txBody>
          <a:bodyPr>
            <a:normAutofit fontScale="250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Arial Black" panose="020B0A04020102020204" pitchFamily="34" charset="0"/>
              </a:rPr>
              <a:t>SELECT TRIM(UNNEST(</a:t>
            </a:r>
            <a:r>
              <a:rPr lang="en-US" sz="44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string_to_array</a:t>
            </a:r>
            <a:r>
              <a:rPr lang="en-US" sz="4400" b="1" dirty="0">
                <a:solidFill>
                  <a:schemeClr val="bg1"/>
                </a:solidFill>
                <a:latin typeface="Arial Black" panose="020B0A04020102020204" pitchFamily="34" charset="0"/>
              </a:rPr>
              <a:t>(actors, ','))) AS actor,</a:t>
            </a:r>
          </a:p>
          <a:p>
            <a:r>
              <a:rPr lang="en-US" sz="4400" b="1" dirty="0">
                <a:solidFill>
                  <a:schemeClr val="bg1"/>
                </a:solidFill>
                <a:latin typeface="Arial Black" panose="020B0A04020102020204" pitchFamily="34" charset="0"/>
              </a:rPr>
              <a:t>       COUNT(*) AS appearances</a:t>
            </a:r>
          </a:p>
          <a:p>
            <a:r>
              <a:rPr lang="en-US" sz="4400" b="1" dirty="0">
                <a:solidFill>
                  <a:schemeClr val="bg1"/>
                </a:solidFill>
                <a:latin typeface="Arial Black" panose="020B0A04020102020204" pitchFamily="34" charset="0"/>
              </a:rPr>
              <a:t>FROM </a:t>
            </a:r>
            <a:r>
              <a:rPr lang="en-US" sz="44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netflix_titles</a:t>
            </a:r>
            <a:endParaRPr lang="en-US" sz="4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sz="4400" b="1" dirty="0">
                <a:solidFill>
                  <a:schemeClr val="bg1"/>
                </a:solidFill>
                <a:latin typeface="Arial Black" panose="020B0A04020102020204" pitchFamily="34" charset="0"/>
              </a:rPr>
              <a:t>WHERE actors IS NOT NULL AND actors &lt;&gt; ''</a:t>
            </a:r>
          </a:p>
          <a:p>
            <a:r>
              <a:rPr lang="en-US" sz="4400" b="1" dirty="0">
                <a:solidFill>
                  <a:schemeClr val="bg1"/>
                </a:solidFill>
                <a:latin typeface="Arial Black" panose="020B0A04020102020204" pitchFamily="34" charset="0"/>
              </a:rPr>
              <a:t>GROUP BY actor</a:t>
            </a:r>
          </a:p>
          <a:p>
            <a:r>
              <a:rPr lang="en-US" sz="4400" b="1" dirty="0">
                <a:solidFill>
                  <a:schemeClr val="bg1"/>
                </a:solidFill>
                <a:latin typeface="Arial Black" panose="020B0A04020102020204" pitchFamily="34" charset="0"/>
              </a:rPr>
              <a:t>ORDER BY appearances DESC</a:t>
            </a:r>
          </a:p>
          <a:p>
            <a:r>
              <a:rPr lang="en-US" sz="4400" b="1" dirty="0">
                <a:solidFill>
                  <a:schemeClr val="bg1"/>
                </a:solidFill>
                <a:latin typeface="Arial Black" panose="020B0A04020102020204" pitchFamily="34" charset="0"/>
              </a:rPr>
              <a:t>LIMIT 10;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212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22F93-0496-407D-8388-DA39EFFE4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366" y="1009650"/>
            <a:ext cx="5917679" cy="1805806"/>
          </a:xfrm>
        </p:spPr>
        <p:txBody>
          <a:bodyPr/>
          <a:lstStyle/>
          <a:p>
            <a:r>
              <a:rPr lang="en-US" dirty="0"/>
              <a:t>6️⃣ Most Popular Content Rating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EFBC9D-919C-44A9-961E-35882A742E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366" y="3301004"/>
            <a:ext cx="5917679" cy="1309095"/>
          </a:xfrm>
        </p:spPr>
        <p:txBody>
          <a:bodyPr>
            <a:normAutofit fontScale="47500" lnSpcReduction="20000"/>
          </a:bodyPr>
          <a:lstStyle/>
          <a:p>
            <a:r>
              <a:rPr lang="en-US" sz="3500" b="1" dirty="0">
                <a:solidFill>
                  <a:schemeClr val="bg1"/>
                </a:solidFill>
                <a:latin typeface="Arial Black" panose="020B0A04020102020204" pitchFamily="34" charset="0"/>
              </a:rPr>
              <a:t>SELECT rating, COUNT(*) AS total</a:t>
            </a:r>
          </a:p>
          <a:p>
            <a:r>
              <a:rPr lang="en-US" sz="3500" b="1" dirty="0">
                <a:solidFill>
                  <a:schemeClr val="bg1"/>
                </a:solidFill>
                <a:latin typeface="Arial Black" panose="020B0A04020102020204" pitchFamily="34" charset="0"/>
              </a:rPr>
              <a:t>FROM </a:t>
            </a:r>
            <a:r>
              <a:rPr lang="en-US" sz="35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netflix_titles</a:t>
            </a:r>
            <a:endParaRPr lang="en-US" sz="35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sz="3500" b="1" dirty="0">
                <a:solidFill>
                  <a:schemeClr val="bg1"/>
                </a:solidFill>
                <a:latin typeface="Arial Black" panose="020B0A04020102020204" pitchFamily="34" charset="0"/>
              </a:rPr>
              <a:t>GROUP BY rating</a:t>
            </a:r>
          </a:p>
          <a:p>
            <a:r>
              <a:rPr lang="en-US" sz="3500" b="1" dirty="0">
                <a:solidFill>
                  <a:schemeClr val="bg1"/>
                </a:solidFill>
                <a:latin typeface="Arial Black" panose="020B0A04020102020204" pitchFamily="34" charset="0"/>
              </a:rPr>
              <a:t>ORDER BY total DESC;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841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CE3AF-B80C-456A-8210-E62FADDE06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516" y="1619250"/>
            <a:ext cx="5917679" cy="1424806"/>
          </a:xfrm>
        </p:spPr>
        <p:txBody>
          <a:bodyPr/>
          <a:lstStyle/>
          <a:p>
            <a:r>
              <a:rPr lang="en-US" sz="3200" dirty="0">
                <a:solidFill>
                  <a:schemeClr val="bg1"/>
                </a:solidFill>
              </a:rPr>
              <a:t>7️⃣ Find Titles That Mention a Keyword (Example: "Crime")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EFF899-620D-498C-BF17-6841149BD8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841" y="3539130"/>
            <a:ext cx="5917679" cy="861420"/>
          </a:xfrm>
        </p:spPr>
        <p:txBody>
          <a:bodyPr>
            <a:normAutofit fontScale="62500" lnSpcReduction="20000"/>
          </a:bodyPr>
          <a:lstStyle/>
          <a:p>
            <a:r>
              <a:rPr lang="en-US" sz="2100" b="1" dirty="0">
                <a:solidFill>
                  <a:schemeClr val="bg1"/>
                </a:solidFill>
                <a:latin typeface="Arial Black" panose="020B0A04020102020204" pitchFamily="34" charset="0"/>
              </a:rPr>
              <a:t>SELECT title, type, </a:t>
            </a:r>
            <a:r>
              <a:rPr lang="en-US" sz="21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release_year</a:t>
            </a:r>
            <a:endParaRPr lang="en-US" sz="21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sz="2100" b="1" dirty="0">
                <a:solidFill>
                  <a:schemeClr val="bg1"/>
                </a:solidFill>
                <a:latin typeface="Arial Black" panose="020B0A04020102020204" pitchFamily="34" charset="0"/>
              </a:rPr>
              <a:t>FROM </a:t>
            </a:r>
            <a:r>
              <a:rPr lang="en-US" sz="21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netflix_titles</a:t>
            </a:r>
            <a:endParaRPr lang="en-US" sz="21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sz="2100" b="1" dirty="0">
                <a:solidFill>
                  <a:schemeClr val="bg1"/>
                </a:solidFill>
                <a:latin typeface="Arial Black" panose="020B0A04020102020204" pitchFamily="34" charset="0"/>
              </a:rPr>
              <a:t>WHERE description ILIKE '%crime%';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674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EB1EB-4810-4251-A418-8941512A5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941" y="899520"/>
            <a:ext cx="5917679" cy="1525411"/>
          </a:xfrm>
        </p:spPr>
        <p:txBody>
          <a:bodyPr/>
          <a:lstStyle/>
          <a:p>
            <a:r>
              <a:rPr lang="en-US" dirty="0"/>
              <a:t>8️⃣ Top 10 Directors by Content Count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58BE22-7EE8-4AB6-9E88-B030300372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5966" y="2815230"/>
            <a:ext cx="5917679" cy="1909170"/>
          </a:xfrm>
        </p:spPr>
        <p:txBody>
          <a:bodyPr>
            <a:normAutofit fontScale="25000" lnSpcReduction="20000"/>
          </a:bodyPr>
          <a:lstStyle/>
          <a:p>
            <a:r>
              <a:rPr lang="en-US" sz="5600" b="1" dirty="0">
                <a:solidFill>
                  <a:schemeClr val="bg1"/>
                </a:solidFill>
                <a:latin typeface="Arial Black" panose="020B0A04020102020204" pitchFamily="34" charset="0"/>
              </a:rPr>
              <a:t>SELECT director, COUNT(*) AS total</a:t>
            </a:r>
          </a:p>
          <a:p>
            <a:r>
              <a:rPr lang="en-US" sz="5600" b="1" dirty="0">
                <a:solidFill>
                  <a:schemeClr val="bg1"/>
                </a:solidFill>
                <a:latin typeface="Arial Black" panose="020B0A04020102020204" pitchFamily="34" charset="0"/>
              </a:rPr>
              <a:t>FROM </a:t>
            </a:r>
            <a:r>
              <a:rPr lang="en-US" sz="56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netflix_titles</a:t>
            </a:r>
            <a:endParaRPr lang="en-US" sz="56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sz="5600" b="1" dirty="0">
                <a:solidFill>
                  <a:schemeClr val="bg1"/>
                </a:solidFill>
                <a:latin typeface="Arial Black" panose="020B0A04020102020204" pitchFamily="34" charset="0"/>
              </a:rPr>
              <a:t>WHERE director IS NOT NULL AND director &lt;&gt; ''</a:t>
            </a:r>
          </a:p>
          <a:p>
            <a:r>
              <a:rPr lang="en-US" sz="5600" b="1" dirty="0">
                <a:solidFill>
                  <a:schemeClr val="bg1"/>
                </a:solidFill>
                <a:latin typeface="Arial Black" panose="020B0A04020102020204" pitchFamily="34" charset="0"/>
              </a:rPr>
              <a:t>GROUP BY director</a:t>
            </a:r>
          </a:p>
          <a:p>
            <a:r>
              <a:rPr lang="en-US" sz="5600" b="1" dirty="0">
                <a:solidFill>
                  <a:schemeClr val="bg1"/>
                </a:solidFill>
                <a:latin typeface="Arial Black" panose="020B0A04020102020204" pitchFamily="34" charset="0"/>
              </a:rPr>
              <a:t>ORDER BY total DESC</a:t>
            </a:r>
          </a:p>
          <a:p>
            <a:r>
              <a:rPr lang="en-US" sz="5600" b="1" dirty="0">
                <a:solidFill>
                  <a:schemeClr val="bg1"/>
                </a:solidFill>
                <a:latin typeface="Arial Black" panose="020B0A04020102020204" pitchFamily="34" charset="0"/>
              </a:rPr>
              <a:t>LIMIT 10;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057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83EEB-5540-46B4-866E-B534229478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6441" y="1296974"/>
            <a:ext cx="5917679" cy="1696861"/>
          </a:xfrm>
        </p:spPr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9️⃣ Content Released in the Last 5 Years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3D4AF9-D624-45A4-A493-A12E9F318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416" y="3501030"/>
            <a:ext cx="5917679" cy="1090020"/>
          </a:xfrm>
        </p:spPr>
        <p:txBody>
          <a:bodyPr>
            <a:normAutofit fontScale="32500" lnSpcReduction="20000"/>
          </a:bodyPr>
          <a:lstStyle/>
          <a:p>
            <a:r>
              <a:rPr lang="en-US" sz="3500" dirty="0">
                <a:solidFill>
                  <a:schemeClr val="bg1"/>
                </a:solidFill>
                <a:latin typeface="Arial Black" panose="020B0A04020102020204" pitchFamily="34" charset="0"/>
              </a:rPr>
              <a:t>SELECT title, </a:t>
            </a:r>
            <a:r>
              <a:rPr lang="en-US" sz="3500" dirty="0" err="1">
                <a:solidFill>
                  <a:schemeClr val="bg1"/>
                </a:solidFill>
                <a:latin typeface="Arial Black" panose="020B0A04020102020204" pitchFamily="34" charset="0"/>
              </a:rPr>
              <a:t>release_year</a:t>
            </a:r>
            <a:r>
              <a:rPr lang="en-US" sz="3500" dirty="0">
                <a:solidFill>
                  <a:schemeClr val="bg1"/>
                </a:solidFill>
                <a:latin typeface="Arial Black" panose="020B0A04020102020204" pitchFamily="34" charset="0"/>
              </a:rPr>
              <a:t>, type</a:t>
            </a:r>
          </a:p>
          <a:p>
            <a:r>
              <a:rPr lang="en-US" sz="3500" dirty="0">
                <a:solidFill>
                  <a:schemeClr val="bg1"/>
                </a:solidFill>
                <a:latin typeface="Arial Black" panose="020B0A04020102020204" pitchFamily="34" charset="0"/>
              </a:rPr>
              <a:t>FROM </a:t>
            </a:r>
            <a:r>
              <a:rPr lang="en-US" sz="3500" dirty="0" err="1">
                <a:solidFill>
                  <a:schemeClr val="bg1"/>
                </a:solidFill>
                <a:latin typeface="Arial Black" panose="020B0A04020102020204" pitchFamily="34" charset="0"/>
              </a:rPr>
              <a:t>netflix_titles</a:t>
            </a:r>
            <a:endParaRPr lang="en-US" sz="35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sz="3500" dirty="0">
                <a:solidFill>
                  <a:schemeClr val="bg1"/>
                </a:solidFill>
                <a:latin typeface="Arial Black" panose="020B0A04020102020204" pitchFamily="34" charset="0"/>
              </a:rPr>
              <a:t>WHERE </a:t>
            </a:r>
            <a:r>
              <a:rPr lang="en-US" sz="3500" dirty="0" err="1">
                <a:solidFill>
                  <a:schemeClr val="bg1"/>
                </a:solidFill>
                <a:latin typeface="Arial Black" panose="020B0A04020102020204" pitchFamily="34" charset="0"/>
              </a:rPr>
              <a:t>release_year</a:t>
            </a:r>
            <a:r>
              <a:rPr lang="en-US" sz="3500" dirty="0">
                <a:solidFill>
                  <a:schemeClr val="bg1"/>
                </a:solidFill>
                <a:latin typeface="Arial Black" panose="020B0A04020102020204" pitchFamily="34" charset="0"/>
              </a:rPr>
              <a:t> &gt;= EXTRACT(YEAR FROM CURRENT_DATE) - 5</a:t>
            </a:r>
          </a:p>
          <a:p>
            <a:r>
              <a:rPr lang="en-US" sz="3500" dirty="0">
                <a:solidFill>
                  <a:schemeClr val="bg1"/>
                </a:solidFill>
                <a:latin typeface="Arial Black" panose="020B0A04020102020204" pitchFamily="34" charset="0"/>
              </a:rPr>
              <a:t>ORDER BY </a:t>
            </a:r>
            <a:r>
              <a:rPr lang="en-US" sz="3500" dirty="0" err="1">
                <a:solidFill>
                  <a:schemeClr val="bg1"/>
                </a:solidFill>
                <a:latin typeface="Arial Black" panose="020B0A04020102020204" pitchFamily="34" charset="0"/>
              </a:rPr>
              <a:t>release_year</a:t>
            </a:r>
            <a:r>
              <a:rPr lang="en-US" sz="3500" dirty="0">
                <a:solidFill>
                  <a:schemeClr val="bg1"/>
                </a:solidFill>
                <a:latin typeface="Arial Black" panose="020B0A04020102020204" pitchFamily="34" charset="0"/>
              </a:rPr>
              <a:t> DESC;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806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BA534-535D-46A0-B958-438751BED1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1191" y="1299569"/>
            <a:ext cx="5917679" cy="781051"/>
          </a:xfrm>
        </p:spPr>
        <p:txBody>
          <a:bodyPr/>
          <a:lstStyle/>
          <a:p>
            <a:r>
              <a:rPr lang="en-US" sz="2800" b="1" dirty="0"/>
              <a:t>🔟 Top 10 Most Common Genres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6E54FC-49BC-4324-8A03-BB97C666FB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6441" y="2555377"/>
            <a:ext cx="5917679" cy="2311898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SELECT TRIM(UNNEST(</a:t>
            </a:r>
            <a:r>
              <a:rPr lang="en-US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string_to_array</a:t>
            </a:r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(</a:t>
            </a:r>
            <a:r>
              <a:rPr lang="en-US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listed_in</a:t>
            </a:r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, ','))) AS genre,</a:t>
            </a:r>
          </a:p>
          <a:p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       COUNT(*) AS total</a:t>
            </a:r>
          </a:p>
          <a:p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FROM </a:t>
            </a:r>
            <a:r>
              <a:rPr lang="en-US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netflix_titles</a:t>
            </a:r>
            <a:endParaRPr lang="en-US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GROUP BY genre</a:t>
            </a:r>
          </a:p>
          <a:p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ORDER BY total DESC</a:t>
            </a:r>
          </a:p>
          <a:p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LIMIT 10;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862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DD86E-F69E-445F-BC6E-AB89E9B26C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6441" y="1314449"/>
            <a:ext cx="5917679" cy="1510531"/>
          </a:xfrm>
        </p:spPr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1️⃣1️⃣ Movies Longer Than 100 Minutes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2B250B-481C-4C3C-A487-CEB8519547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6441" y="2985045"/>
            <a:ext cx="5917679" cy="1139280"/>
          </a:xfrm>
        </p:spPr>
        <p:txBody>
          <a:bodyPr>
            <a:normAutofit fontScale="40000" lnSpcReduction="20000"/>
          </a:bodyPr>
          <a:lstStyle/>
          <a:p>
            <a:r>
              <a:rPr lang="en-US" sz="3000" b="1" dirty="0">
                <a:solidFill>
                  <a:schemeClr val="bg1"/>
                </a:solidFill>
              </a:rPr>
              <a:t>SELECT *</a:t>
            </a:r>
          </a:p>
          <a:p>
            <a:r>
              <a:rPr lang="en-US" sz="3000" b="1" dirty="0">
                <a:solidFill>
                  <a:schemeClr val="bg1"/>
                </a:solidFill>
              </a:rPr>
              <a:t>FROM </a:t>
            </a:r>
            <a:r>
              <a:rPr lang="en-US" sz="3000" b="1" dirty="0" err="1">
                <a:solidFill>
                  <a:schemeClr val="bg1"/>
                </a:solidFill>
              </a:rPr>
              <a:t>netflix_titles</a:t>
            </a:r>
            <a:endParaRPr lang="en-US" sz="3000" b="1" dirty="0">
              <a:solidFill>
                <a:schemeClr val="bg1"/>
              </a:solidFill>
            </a:endParaRPr>
          </a:p>
          <a:p>
            <a:r>
              <a:rPr lang="en-US" sz="3000" b="1" dirty="0">
                <a:solidFill>
                  <a:schemeClr val="bg1"/>
                </a:solidFill>
              </a:rPr>
              <a:t>WHERE duration LIKE '%min%'</a:t>
            </a:r>
          </a:p>
          <a:p>
            <a:r>
              <a:rPr lang="en-US" sz="3000" b="1" dirty="0">
                <a:solidFill>
                  <a:schemeClr val="bg1"/>
                </a:solidFill>
              </a:rPr>
              <a:t>AND CAST(</a:t>
            </a:r>
            <a:r>
              <a:rPr lang="en-US" sz="3000" b="1" dirty="0" err="1">
                <a:solidFill>
                  <a:schemeClr val="bg1"/>
                </a:solidFill>
              </a:rPr>
              <a:t>split_part</a:t>
            </a:r>
            <a:r>
              <a:rPr lang="en-US" sz="3000" b="1" dirty="0">
                <a:solidFill>
                  <a:schemeClr val="bg1"/>
                </a:solidFill>
              </a:rPr>
              <a:t>(duration, ' ', 1) AS INT) &gt; 100;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308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83B3B-B623-4FD5-ACF3-EC06C034DE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4990" y="1028700"/>
            <a:ext cx="5917679" cy="1462906"/>
          </a:xfrm>
        </p:spPr>
        <p:txBody>
          <a:bodyPr/>
          <a:lstStyle/>
          <a:p>
            <a:r>
              <a:rPr lang="en-US" sz="3200" dirty="0">
                <a:solidFill>
                  <a:schemeClr val="bg1"/>
                </a:solidFill>
              </a:rPr>
              <a:t>1️⃣2️⃣ TV Shows with More Than 2 Seasons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D04E20-C6DF-4AAC-BB08-DF78E41B40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989" y="2726827"/>
            <a:ext cx="5917679" cy="1213845"/>
          </a:xfrm>
        </p:spPr>
        <p:txBody>
          <a:bodyPr>
            <a:normAutofit fontScale="32500" lnSpcReduction="20000"/>
          </a:bodyPr>
          <a:lstStyle/>
          <a:p>
            <a:r>
              <a:rPr lang="en-US" sz="4300" b="1" dirty="0">
                <a:solidFill>
                  <a:schemeClr val="bg1"/>
                </a:solidFill>
                <a:latin typeface="Arial Black" panose="020B0A04020102020204" pitchFamily="34" charset="0"/>
              </a:rPr>
              <a:t>SELECT *</a:t>
            </a:r>
          </a:p>
          <a:p>
            <a:r>
              <a:rPr lang="en-US" sz="4300" b="1" dirty="0">
                <a:solidFill>
                  <a:schemeClr val="bg1"/>
                </a:solidFill>
                <a:latin typeface="Arial Black" panose="020B0A04020102020204" pitchFamily="34" charset="0"/>
              </a:rPr>
              <a:t>FROM </a:t>
            </a:r>
            <a:r>
              <a:rPr lang="en-US" sz="43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netflix_titles</a:t>
            </a:r>
            <a:endParaRPr lang="en-US" sz="43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sz="4300" b="1" dirty="0">
                <a:solidFill>
                  <a:schemeClr val="bg1"/>
                </a:solidFill>
                <a:latin typeface="Arial Black" panose="020B0A04020102020204" pitchFamily="34" charset="0"/>
              </a:rPr>
              <a:t>WHERE duration LIKE '%Season%'</a:t>
            </a:r>
          </a:p>
          <a:p>
            <a:r>
              <a:rPr lang="en-US" sz="4300" b="1" dirty="0">
                <a:solidFill>
                  <a:schemeClr val="bg1"/>
                </a:solidFill>
                <a:latin typeface="Arial Black" panose="020B0A04020102020204" pitchFamily="34" charset="0"/>
              </a:rPr>
              <a:t>AND CAST(</a:t>
            </a:r>
            <a:r>
              <a:rPr lang="en-US" sz="43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split_part</a:t>
            </a:r>
            <a:r>
              <a:rPr lang="en-US" sz="4300" b="1" dirty="0">
                <a:solidFill>
                  <a:schemeClr val="bg1"/>
                </a:solidFill>
                <a:latin typeface="Arial Black" panose="020B0A04020102020204" pitchFamily="34" charset="0"/>
              </a:rPr>
              <a:t>(duration, ' ', 1) AS INT) &gt; 2</a:t>
            </a:r>
            <a:r>
              <a:rPr lang="en-US" sz="4300" dirty="0">
                <a:latin typeface="Arial Black" panose="020B0A04020102020204" pitchFamily="34" charset="0"/>
              </a:rPr>
              <a:t>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8487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A08AD-C66B-48CF-97A8-CB05A2575E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3116" y="1019174"/>
            <a:ext cx="5917679" cy="1304925"/>
          </a:xfrm>
        </p:spPr>
        <p:txBody>
          <a:bodyPr/>
          <a:lstStyle/>
          <a:p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1️⃣3️⃣ Most Recently Added 20 Titles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370150-19D5-4B2F-BC9C-7DE17D4965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3115" y="2796179"/>
            <a:ext cx="5917679" cy="1480545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>
                <a:solidFill>
                  <a:schemeClr val="bg1"/>
                </a:solidFill>
                <a:latin typeface="Arial Black" panose="020B0A04020102020204" pitchFamily="34" charset="0"/>
              </a:rPr>
              <a:t>SELECT title, type, </a:t>
            </a:r>
            <a:r>
              <a:rPr lang="en-US" i="1" dirty="0" err="1">
                <a:solidFill>
                  <a:schemeClr val="bg1"/>
                </a:solidFill>
                <a:latin typeface="Arial Black" panose="020B0A04020102020204" pitchFamily="34" charset="0"/>
              </a:rPr>
              <a:t>date_added</a:t>
            </a:r>
            <a:endParaRPr lang="en-US" i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i="1" dirty="0">
                <a:solidFill>
                  <a:schemeClr val="bg1"/>
                </a:solidFill>
                <a:latin typeface="Arial Black" panose="020B0A04020102020204" pitchFamily="34" charset="0"/>
              </a:rPr>
              <a:t>FROM </a:t>
            </a:r>
            <a:r>
              <a:rPr lang="en-US" i="1" dirty="0" err="1">
                <a:solidFill>
                  <a:schemeClr val="bg1"/>
                </a:solidFill>
                <a:latin typeface="Arial Black" panose="020B0A04020102020204" pitchFamily="34" charset="0"/>
              </a:rPr>
              <a:t>netflix_titles</a:t>
            </a:r>
            <a:endParaRPr lang="en-US" i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i="1" dirty="0">
                <a:solidFill>
                  <a:schemeClr val="bg1"/>
                </a:solidFill>
                <a:latin typeface="Arial Black" panose="020B0A04020102020204" pitchFamily="34" charset="0"/>
              </a:rPr>
              <a:t>ORDER BY </a:t>
            </a:r>
            <a:r>
              <a:rPr lang="en-US" i="1" dirty="0" err="1">
                <a:solidFill>
                  <a:schemeClr val="bg1"/>
                </a:solidFill>
                <a:latin typeface="Arial Black" panose="020B0A04020102020204" pitchFamily="34" charset="0"/>
              </a:rPr>
              <a:t>date_added</a:t>
            </a:r>
            <a:r>
              <a:rPr lang="en-US" i="1" dirty="0">
                <a:solidFill>
                  <a:schemeClr val="bg1"/>
                </a:solidFill>
                <a:latin typeface="Arial Black" panose="020B0A04020102020204" pitchFamily="34" charset="0"/>
              </a:rPr>
              <a:t> DESC</a:t>
            </a:r>
          </a:p>
          <a:p>
            <a:r>
              <a:rPr lang="en-US" i="1" dirty="0">
                <a:solidFill>
                  <a:schemeClr val="bg1"/>
                </a:solidFill>
                <a:latin typeface="Arial Black" panose="020B0A04020102020204" pitchFamily="34" charset="0"/>
              </a:rPr>
              <a:t>LIMIT 20</a:t>
            </a:r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629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F178A-DC23-4144-AB0C-5BE555CD86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7841" y="1023344"/>
            <a:ext cx="5917679" cy="1476375"/>
          </a:xfrm>
        </p:spPr>
        <p:txBody>
          <a:bodyPr/>
          <a:lstStyle/>
          <a:p>
            <a:r>
              <a:rPr lang="en-US" sz="3600" b="1" dirty="0">
                <a:latin typeface="Arial Black" panose="020B0A04020102020204" pitchFamily="34" charset="0"/>
              </a:rPr>
              <a:t>1️⃣4️⃣ Kids-Friendly Content Count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4868D-7773-4344-943B-6D5157FFA3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1191" y="2710455"/>
            <a:ext cx="5917679" cy="861420"/>
          </a:xfrm>
        </p:spPr>
        <p:txBody>
          <a:bodyPr>
            <a:normAutofit fontScale="62500" lnSpcReduction="20000"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 Black" panose="020B0A04020102020204" pitchFamily="34" charset="0"/>
              </a:rPr>
              <a:t>SELECT COUNT(*) AS </a:t>
            </a:r>
            <a:r>
              <a:rPr lang="en-US" sz="20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kids_safe_content</a:t>
            </a:r>
            <a:endParaRPr lang="en-US" sz="2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Arial Black" panose="020B0A04020102020204" pitchFamily="34" charset="0"/>
              </a:rPr>
              <a:t>FROM </a:t>
            </a:r>
            <a:r>
              <a:rPr lang="en-US" sz="20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netflix_titles</a:t>
            </a:r>
            <a:endParaRPr lang="en-US" sz="2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Arial Black" panose="020B0A04020102020204" pitchFamily="34" charset="0"/>
              </a:rPr>
              <a:t>WHERE rating IN ('G', 'PG', 'PG-13', 'TV-Y', 'TV-G', 'TV-Y7');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687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7199F-6371-47A5-9B6D-197F274DB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BBA10-8E09-4AE2-820B-2BD7B2D16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2582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131</TotalTime>
  <Words>649</Words>
  <Application>Microsoft Office PowerPoint</Application>
  <PresentationFormat>On-screen Show (4:3)</PresentationFormat>
  <Paragraphs>92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Arial Black</vt:lpstr>
      <vt:lpstr>Century Gothic</vt:lpstr>
      <vt:lpstr>Wingdings 3</vt:lpstr>
      <vt:lpstr>Ion Boardroom</vt:lpstr>
      <vt:lpstr>SYED MUHAMMAD ALI SHAH</vt:lpstr>
      <vt:lpstr>CREATE TABLE</vt:lpstr>
      <vt:lpstr>\copy public.netflix_titles(show_id, type, title, director, "cast", country, date_added, release_year, rating, duration, listed_in, description) FROM 'E:/Music/netflix_titles_cleaned.csv' WITH (     FORMAT csv,     HEADER,     DELIMITER ',’, QUOTE '"',     ESCAPE '"',     ENCODING 'UTF8' );  </vt:lpstr>
      <vt:lpstr>1️⃣ Total Number of Titles</vt:lpstr>
      <vt:lpstr>2️⃣ Movies vs TV Shows</vt:lpstr>
      <vt:lpstr>3️⃣ Top 10 Countries with the Most Netflix Content</vt:lpstr>
      <vt:lpstr>4️⃣ Number of Titles by Release Year</vt:lpstr>
      <vt:lpstr>5️⃣ 🔥 Top 10 Most Frequent Actors</vt:lpstr>
      <vt:lpstr>6️⃣ Most Popular Content Rating</vt:lpstr>
      <vt:lpstr>7️⃣ Find Titles That Mention a Keyword (Example: "Crime")</vt:lpstr>
      <vt:lpstr>8️⃣ Top 10 Directors by Content Count</vt:lpstr>
      <vt:lpstr>9️⃣ Content Released in the Last 5 Years</vt:lpstr>
      <vt:lpstr>🔟 Top 10 Most Common Genres</vt:lpstr>
      <vt:lpstr>1️⃣1️⃣ Movies Longer Than 100 Minutes</vt:lpstr>
      <vt:lpstr>1️⃣2️⃣ TV Shows with More Than 2 Seasons</vt:lpstr>
      <vt:lpstr>1️⃣3️⃣ Most Recently Added 20 Titles</vt:lpstr>
      <vt:lpstr>1️⃣4️⃣ Kids-Friendly Content Count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SYED MUHAMMAD ALI SHAH</dc:title>
  <dc:creator>Syed Muhammad Ali Shah</dc:creator>
  <cp:lastModifiedBy>Syed Muhammad Ali Shah</cp:lastModifiedBy>
  <cp:revision>6</cp:revision>
  <dcterms:created xsi:type="dcterms:W3CDTF">2025-11-27T18:24:52Z</dcterms:created>
  <dcterms:modified xsi:type="dcterms:W3CDTF">2025-11-27T20:36:46Z</dcterms:modified>
</cp:coreProperties>
</file>